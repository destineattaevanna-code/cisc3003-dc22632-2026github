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35A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11215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35A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11215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35A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35A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0248" y="4477511"/>
            <a:ext cx="6096000" cy="2380615"/>
          </a:xfrm>
          <a:custGeom>
            <a:avLst/>
            <a:gdLst/>
            <a:ahLst/>
            <a:cxnLst/>
            <a:rect l="l" t="t" r="r" b="b"/>
            <a:pathLst>
              <a:path w="6096000" h="2380615">
                <a:moveTo>
                  <a:pt x="28067" y="0"/>
                </a:moveTo>
                <a:lnTo>
                  <a:pt x="25459" y="204582"/>
                </a:lnTo>
                <a:lnTo>
                  <a:pt x="3059" y="1530155"/>
                </a:lnTo>
                <a:lnTo>
                  <a:pt x="0" y="1837639"/>
                </a:lnTo>
                <a:lnTo>
                  <a:pt x="876" y="2380487"/>
                </a:lnTo>
                <a:lnTo>
                  <a:pt x="6093713" y="2380487"/>
                </a:lnTo>
                <a:lnTo>
                  <a:pt x="6096000" y="2305536"/>
                </a:lnTo>
                <a:lnTo>
                  <a:pt x="6092485" y="1787659"/>
                </a:lnTo>
                <a:lnTo>
                  <a:pt x="6087745" y="1346803"/>
                </a:lnTo>
                <a:lnTo>
                  <a:pt x="6082998" y="1052878"/>
                </a:lnTo>
                <a:lnTo>
                  <a:pt x="6076926" y="779650"/>
                </a:lnTo>
                <a:lnTo>
                  <a:pt x="6070657" y="560775"/>
                </a:lnTo>
                <a:lnTo>
                  <a:pt x="6063121" y="343927"/>
                </a:lnTo>
                <a:lnTo>
                  <a:pt x="6052184" y="78486"/>
                </a:lnTo>
                <a:lnTo>
                  <a:pt x="6009981" y="74017"/>
                </a:lnTo>
                <a:lnTo>
                  <a:pt x="5965065" y="70714"/>
                </a:lnTo>
                <a:lnTo>
                  <a:pt x="5888251" y="66379"/>
                </a:lnTo>
                <a:lnTo>
                  <a:pt x="5766355" y="61082"/>
                </a:lnTo>
                <a:lnTo>
                  <a:pt x="5584556" y="54921"/>
                </a:lnTo>
                <a:lnTo>
                  <a:pt x="5245826" y="46132"/>
                </a:lnTo>
                <a:lnTo>
                  <a:pt x="4738262" y="36230"/>
                </a:lnTo>
                <a:lnTo>
                  <a:pt x="3972646" y="25182"/>
                </a:lnTo>
                <a:lnTo>
                  <a:pt x="2917201" y="14512"/>
                </a:lnTo>
                <a:lnTo>
                  <a:pt x="1658335" y="6778"/>
                </a:lnTo>
                <a:lnTo>
                  <a:pt x="476872" y="4190"/>
                </a:lnTo>
                <a:lnTo>
                  <a:pt x="28067" y="0"/>
                </a:lnTo>
                <a:close/>
              </a:path>
            </a:pathLst>
          </a:custGeom>
          <a:solidFill>
            <a:srgbClr val="EBEEEB">
              <a:alpha val="9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5084445"/>
          </a:xfrm>
          <a:custGeom>
            <a:avLst/>
            <a:gdLst/>
            <a:ahLst/>
            <a:cxnLst/>
            <a:rect l="l" t="t" r="r" b="b"/>
            <a:pathLst>
              <a:path w="12192000" h="5084445">
                <a:moveTo>
                  <a:pt x="12192000" y="0"/>
                </a:moveTo>
                <a:lnTo>
                  <a:pt x="1241" y="0"/>
                </a:lnTo>
                <a:lnTo>
                  <a:pt x="0" y="101346"/>
                </a:lnTo>
                <a:lnTo>
                  <a:pt x="0" y="4979543"/>
                </a:lnTo>
                <a:lnTo>
                  <a:pt x="8500491" y="5084064"/>
                </a:lnTo>
                <a:lnTo>
                  <a:pt x="8661776" y="5084064"/>
                </a:lnTo>
                <a:lnTo>
                  <a:pt x="9767154" y="5073036"/>
                </a:lnTo>
                <a:lnTo>
                  <a:pt x="10581654" y="5049943"/>
                </a:lnTo>
                <a:lnTo>
                  <a:pt x="11221003" y="5020110"/>
                </a:lnTo>
                <a:lnTo>
                  <a:pt x="11555730" y="4999482"/>
                </a:lnTo>
                <a:lnTo>
                  <a:pt x="12192000" y="4947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EDE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977384"/>
            <a:ext cx="12192000" cy="1880870"/>
          </a:xfrm>
          <a:custGeom>
            <a:avLst/>
            <a:gdLst/>
            <a:ahLst/>
            <a:cxnLst/>
            <a:rect l="l" t="t" r="r" b="b"/>
            <a:pathLst>
              <a:path w="12192000" h="1880870">
                <a:moveTo>
                  <a:pt x="1298702" y="0"/>
                </a:moveTo>
                <a:lnTo>
                  <a:pt x="0" y="4953"/>
                </a:lnTo>
                <a:lnTo>
                  <a:pt x="0" y="1880615"/>
                </a:lnTo>
                <a:lnTo>
                  <a:pt x="12192000" y="1880615"/>
                </a:lnTo>
                <a:lnTo>
                  <a:pt x="12192000" y="500761"/>
                </a:lnTo>
                <a:lnTo>
                  <a:pt x="11389487" y="360807"/>
                </a:lnTo>
                <a:lnTo>
                  <a:pt x="11278358" y="352921"/>
                </a:lnTo>
                <a:lnTo>
                  <a:pt x="10837589" y="322987"/>
                </a:lnTo>
                <a:lnTo>
                  <a:pt x="10402544" y="295517"/>
                </a:lnTo>
                <a:lnTo>
                  <a:pt x="9919512" y="267369"/>
                </a:lnTo>
                <a:lnTo>
                  <a:pt x="9442755" y="241931"/>
                </a:lnTo>
                <a:lnTo>
                  <a:pt x="8919760" y="216583"/>
                </a:lnTo>
                <a:lnTo>
                  <a:pt x="8351841" y="191904"/>
                </a:lnTo>
                <a:lnTo>
                  <a:pt x="7740038" y="168360"/>
                </a:lnTo>
                <a:lnTo>
                  <a:pt x="6984840" y="143129"/>
                </a:lnTo>
                <a:lnTo>
                  <a:pt x="6040015" y="116401"/>
                </a:lnTo>
                <a:lnTo>
                  <a:pt x="2348594" y="30104"/>
                </a:lnTo>
                <a:lnTo>
                  <a:pt x="1298702" y="0"/>
                </a:lnTo>
                <a:close/>
              </a:path>
            </a:pathLst>
          </a:custGeom>
          <a:solidFill>
            <a:srgbClr val="E2DFB5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823" y="2519537"/>
            <a:ext cx="6948170" cy="1099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35A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4586" y="1642111"/>
            <a:ext cx="6042025" cy="437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11215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7DF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998976"/>
            <a:ext cx="8422005" cy="749935"/>
          </a:xfrm>
          <a:custGeom>
            <a:avLst/>
            <a:gdLst/>
            <a:ahLst/>
            <a:cxnLst/>
            <a:rect l="l" t="t" r="r" b="b"/>
            <a:pathLst>
              <a:path w="8422005" h="749935">
                <a:moveTo>
                  <a:pt x="8414766" y="612267"/>
                </a:moveTo>
                <a:lnTo>
                  <a:pt x="8417007" y="747141"/>
                </a:lnTo>
                <a:lnTo>
                  <a:pt x="8417052" y="749807"/>
                </a:lnTo>
                <a:lnTo>
                  <a:pt x="8421624" y="749807"/>
                </a:lnTo>
                <a:lnTo>
                  <a:pt x="8421624" y="747141"/>
                </a:lnTo>
                <a:lnTo>
                  <a:pt x="8420100" y="747141"/>
                </a:lnTo>
                <a:lnTo>
                  <a:pt x="8414766" y="612267"/>
                </a:lnTo>
                <a:close/>
              </a:path>
              <a:path w="8422005" h="749935">
                <a:moveTo>
                  <a:pt x="1" y="339979"/>
                </a:moveTo>
                <a:lnTo>
                  <a:pt x="0" y="749807"/>
                </a:lnTo>
                <a:lnTo>
                  <a:pt x="1374" y="749807"/>
                </a:lnTo>
                <a:lnTo>
                  <a:pt x="1" y="339979"/>
                </a:lnTo>
                <a:close/>
              </a:path>
              <a:path w="8422005" h="749935">
                <a:moveTo>
                  <a:pt x="8396097" y="0"/>
                </a:moveTo>
                <a:lnTo>
                  <a:pt x="0" y="120396"/>
                </a:lnTo>
                <a:lnTo>
                  <a:pt x="0" y="339979"/>
                </a:lnTo>
                <a:lnTo>
                  <a:pt x="8406765" y="388493"/>
                </a:lnTo>
                <a:lnTo>
                  <a:pt x="8400415" y="176275"/>
                </a:lnTo>
                <a:lnTo>
                  <a:pt x="8396097" y="0"/>
                </a:lnTo>
                <a:close/>
              </a:path>
            </a:pathLst>
          </a:custGeom>
          <a:solidFill>
            <a:srgbClr val="C5CE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33816" y="4965191"/>
            <a:ext cx="3758565" cy="1892935"/>
          </a:xfrm>
          <a:custGeom>
            <a:avLst/>
            <a:gdLst/>
            <a:ahLst/>
            <a:cxnLst/>
            <a:rect l="l" t="t" r="r" b="b"/>
            <a:pathLst>
              <a:path w="3758565" h="1892934">
                <a:moveTo>
                  <a:pt x="7747" y="0"/>
                </a:moveTo>
                <a:lnTo>
                  <a:pt x="0" y="1892806"/>
                </a:lnTo>
                <a:lnTo>
                  <a:pt x="3758183" y="1892807"/>
                </a:lnTo>
                <a:lnTo>
                  <a:pt x="3758183" y="50037"/>
                </a:lnTo>
                <a:lnTo>
                  <a:pt x="7747" y="0"/>
                </a:lnTo>
                <a:close/>
              </a:path>
            </a:pathLst>
          </a:custGeom>
          <a:solidFill>
            <a:srgbClr val="EBEEEB">
              <a:alpha val="90194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342376" y="0"/>
            <a:ext cx="3850004" cy="6858000"/>
            <a:chOff x="8342376" y="0"/>
            <a:chExt cx="3850004" cy="6858000"/>
          </a:xfrm>
        </p:grpSpPr>
        <p:sp>
          <p:nvSpPr>
            <p:cNvPr id="6" name="object 6"/>
            <p:cNvSpPr/>
            <p:nvPr/>
          </p:nvSpPr>
          <p:spPr>
            <a:xfrm>
              <a:off x="8342376" y="0"/>
              <a:ext cx="3850004" cy="4754880"/>
            </a:xfrm>
            <a:custGeom>
              <a:avLst/>
              <a:gdLst/>
              <a:ahLst/>
              <a:cxnLst/>
              <a:rect l="l" t="t" r="r" b="b"/>
              <a:pathLst>
                <a:path w="3850004" h="4754880">
                  <a:moveTo>
                    <a:pt x="3849624" y="0"/>
                  </a:moveTo>
                  <a:lnTo>
                    <a:pt x="0" y="0"/>
                  </a:lnTo>
                  <a:lnTo>
                    <a:pt x="1016" y="32639"/>
                  </a:lnTo>
                  <a:lnTo>
                    <a:pt x="4742" y="213406"/>
                  </a:lnTo>
                  <a:lnTo>
                    <a:pt x="8534" y="510840"/>
                  </a:lnTo>
                  <a:lnTo>
                    <a:pt x="24137" y="2791155"/>
                  </a:lnTo>
                  <a:lnTo>
                    <a:pt x="31339" y="3376799"/>
                  </a:lnTo>
                  <a:lnTo>
                    <a:pt x="38226" y="3775015"/>
                  </a:lnTo>
                  <a:lnTo>
                    <a:pt x="45601" y="4102583"/>
                  </a:lnTo>
                  <a:lnTo>
                    <a:pt x="52930" y="4362502"/>
                  </a:lnTo>
                  <a:lnTo>
                    <a:pt x="59647" y="4560067"/>
                  </a:lnTo>
                  <a:lnTo>
                    <a:pt x="67182" y="4747006"/>
                  </a:lnTo>
                  <a:lnTo>
                    <a:pt x="3849624" y="4754880"/>
                  </a:lnTo>
                  <a:lnTo>
                    <a:pt x="3849624" y="0"/>
                  </a:lnTo>
                  <a:close/>
                </a:path>
              </a:pathLst>
            </a:custGeom>
            <a:solidFill>
              <a:srgbClr val="EBEEEB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5528" y="4737861"/>
              <a:ext cx="3776979" cy="2120265"/>
            </a:xfrm>
            <a:custGeom>
              <a:avLst/>
              <a:gdLst/>
              <a:ahLst/>
              <a:cxnLst/>
              <a:rect l="l" t="t" r="r" b="b"/>
              <a:pathLst>
                <a:path w="3776979" h="2120265">
                  <a:moveTo>
                    <a:pt x="0" y="0"/>
                  </a:moveTo>
                  <a:lnTo>
                    <a:pt x="22605" y="2120138"/>
                  </a:lnTo>
                  <a:lnTo>
                    <a:pt x="32003" y="2120138"/>
                  </a:lnTo>
                  <a:lnTo>
                    <a:pt x="39370" y="239649"/>
                  </a:lnTo>
                  <a:lnTo>
                    <a:pt x="3776472" y="239649"/>
                  </a:lnTo>
                  <a:lnTo>
                    <a:pt x="3776472" y="7874"/>
                  </a:lnTo>
                  <a:lnTo>
                    <a:pt x="0" y="0"/>
                  </a:lnTo>
                  <a:close/>
                </a:path>
                <a:path w="3776979" h="2120265">
                  <a:moveTo>
                    <a:pt x="3776472" y="239649"/>
                  </a:moveTo>
                  <a:lnTo>
                    <a:pt x="39370" y="239649"/>
                  </a:lnTo>
                  <a:lnTo>
                    <a:pt x="3776472" y="291929"/>
                  </a:lnTo>
                  <a:lnTo>
                    <a:pt x="3776472" y="239649"/>
                  </a:lnTo>
                  <a:close/>
                </a:path>
                <a:path w="3776979" h="2120265">
                  <a:moveTo>
                    <a:pt x="3776472" y="4952"/>
                  </a:moveTo>
                  <a:lnTo>
                    <a:pt x="3775964" y="4952"/>
                  </a:lnTo>
                  <a:lnTo>
                    <a:pt x="3775964" y="7874"/>
                  </a:lnTo>
                  <a:lnTo>
                    <a:pt x="3776472" y="7874"/>
                  </a:lnTo>
                  <a:lnTo>
                    <a:pt x="3776472" y="4952"/>
                  </a:lnTo>
                  <a:close/>
                </a:path>
              </a:pathLst>
            </a:custGeom>
            <a:solidFill>
              <a:srgbClr val="E2DF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91108" y="530174"/>
            <a:ext cx="409384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Individual</a:t>
            </a:r>
            <a:r>
              <a:rPr sz="4400" spc="-200" dirty="0"/>
              <a:t> </a:t>
            </a:r>
            <a:r>
              <a:rPr sz="4400" spc="-10" dirty="0"/>
              <a:t>Digital </a:t>
            </a:r>
            <a:r>
              <a:rPr sz="4400" dirty="0"/>
              <a:t>Story:</a:t>
            </a:r>
            <a:r>
              <a:rPr sz="4400" spc="-100" dirty="0"/>
              <a:t> </a:t>
            </a:r>
            <a:r>
              <a:rPr sz="4400" spc="-10" dirty="0"/>
              <a:t>Personal </a:t>
            </a:r>
            <a:r>
              <a:rPr sz="4400" dirty="0"/>
              <a:t>Contribution</a:t>
            </a:r>
            <a:r>
              <a:rPr sz="4400" spc="-265" dirty="0"/>
              <a:t> </a:t>
            </a:r>
            <a:r>
              <a:rPr sz="4400" spc="-25" dirty="0"/>
              <a:t>to </a:t>
            </a:r>
            <a:r>
              <a:rPr sz="4400" spc="-10" dirty="0"/>
              <a:t>iSuperviz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591108" y="5081025"/>
            <a:ext cx="5626735" cy="5797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175385" algn="l"/>
                <a:tab pos="2183130" algn="l"/>
                <a:tab pos="3944620" algn="l"/>
                <a:tab pos="4523740" algn="l"/>
                <a:tab pos="5403215" algn="l"/>
              </a:tabLst>
            </a:pP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S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H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A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R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3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N</a:t>
            </a:r>
            <a:r>
              <a:rPr sz="1400" spc="-7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G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U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N</a:t>
            </a:r>
            <a:r>
              <a:rPr sz="1400" spc="-9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2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Q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U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X</a:t>
            </a:r>
            <a:r>
              <a:rPr sz="1400" spc="-14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P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R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0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8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N</a:t>
            </a:r>
            <a:r>
              <a:rPr sz="1400" spc="-8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C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8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S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A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N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D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R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O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L</a:t>
            </a:r>
            <a:r>
              <a:rPr sz="1400" spc="-10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S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2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1035050" algn="l"/>
              </a:tabLst>
            </a:pP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D</a:t>
            </a:r>
            <a:r>
              <a:rPr sz="1400" spc="-10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3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G</a:t>
            </a:r>
            <a:r>
              <a:rPr sz="1400" spc="-10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I</a:t>
            </a:r>
            <a:r>
              <a:rPr sz="1400" spc="-13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T</a:t>
            </a:r>
            <a:r>
              <a:rPr sz="1400" spc="-19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A</a:t>
            </a:r>
            <a:r>
              <a:rPr sz="1400" spc="-7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L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	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P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R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O</a:t>
            </a:r>
            <a:r>
              <a:rPr sz="1400" spc="-10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J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5A56"/>
                </a:solidFill>
                <a:latin typeface="Arial MT"/>
                <a:cs typeface="Arial MT"/>
              </a:rPr>
              <a:t>E</a:t>
            </a:r>
            <a:r>
              <a:rPr sz="1400" spc="-9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35A56"/>
                </a:solidFill>
                <a:latin typeface="Arial MT"/>
                <a:cs typeface="Arial MT"/>
              </a:rPr>
              <a:t>C</a:t>
            </a:r>
            <a:r>
              <a:rPr sz="1400" spc="-10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35A56"/>
                </a:solidFill>
                <a:latin typeface="Arial MT"/>
                <a:cs typeface="Arial MT"/>
              </a:rPr>
              <a:t>T</a:t>
            </a:r>
            <a:r>
              <a:rPr sz="1400" spc="-9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5A56"/>
                </a:solidFill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2840" marR="5080" indent="-2390775">
              <a:lnSpc>
                <a:spcPct val="110000"/>
              </a:lnSpc>
              <a:spcBef>
                <a:spcPts val="100"/>
              </a:spcBef>
            </a:pPr>
            <a:r>
              <a:rPr spc="245" dirty="0"/>
              <a:t>INTRODUCTION</a:t>
            </a:r>
            <a:r>
              <a:rPr spc="535" dirty="0"/>
              <a:t> </a:t>
            </a:r>
            <a:r>
              <a:rPr spc="165" dirty="0"/>
              <a:t>AND</a:t>
            </a:r>
            <a:r>
              <a:rPr spc="655" dirty="0"/>
              <a:t> </a:t>
            </a:r>
            <a:r>
              <a:rPr spc="215" dirty="0"/>
              <a:t>PROJECT </a:t>
            </a:r>
            <a:r>
              <a:rPr spc="210" dirty="0"/>
              <a:t>CONTEXT</a:t>
            </a:r>
            <a:endParaRPr spc="2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4205" y="446718"/>
            <a:ext cx="6099810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900" dirty="0"/>
              <a:t>Personal</a:t>
            </a:r>
            <a:r>
              <a:rPr sz="2900" spc="-55" dirty="0"/>
              <a:t> </a:t>
            </a:r>
            <a:r>
              <a:rPr sz="2900" dirty="0"/>
              <a:t>Introduction</a:t>
            </a:r>
            <a:r>
              <a:rPr sz="2900" spc="-90" dirty="0"/>
              <a:t> </a:t>
            </a:r>
            <a:r>
              <a:rPr sz="2900" dirty="0"/>
              <a:t>and</a:t>
            </a:r>
            <a:r>
              <a:rPr sz="2900" spc="-40" dirty="0"/>
              <a:t> </a:t>
            </a:r>
            <a:r>
              <a:rPr sz="2900" dirty="0"/>
              <a:t>Purpose</a:t>
            </a:r>
            <a:r>
              <a:rPr sz="2900" spc="-40" dirty="0"/>
              <a:t> </a:t>
            </a:r>
            <a:r>
              <a:rPr sz="2900" spc="-25" dirty="0"/>
              <a:t>of </a:t>
            </a:r>
            <a:r>
              <a:rPr sz="2900" dirty="0"/>
              <a:t>the</a:t>
            </a:r>
            <a:r>
              <a:rPr sz="2900" spc="-60" dirty="0"/>
              <a:t> </a:t>
            </a:r>
            <a:r>
              <a:rPr sz="2900" dirty="0"/>
              <a:t>Digital</a:t>
            </a:r>
            <a:r>
              <a:rPr sz="2900" spc="-40" dirty="0"/>
              <a:t> </a:t>
            </a:r>
            <a:r>
              <a:rPr sz="2900" spc="-10" dirty="0"/>
              <a:t>Story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340125" cy="6857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4586" y="1642111"/>
            <a:ext cx="6365875" cy="43719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Individual</a:t>
            </a:r>
            <a:r>
              <a:rPr sz="1400" b="1" spc="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Role</a:t>
            </a:r>
            <a:r>
              <a:rPr sz="1400" b="1" spc="-5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400" b="1" spc="-6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4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Project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0000"/>
              </a:lnSpc>
              <a:spcBef>
                <a:spcPts val="51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Focus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on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personal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involvement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specific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contributions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 to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iSuperviz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project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within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team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environment.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14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Purpose</a:t>
            </a:r>
            <a:r>
              <a:rPr sz="1400" b="1" spc="-2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400" b="1" spc="-5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Scope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iSuperviz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is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full-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stack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web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app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helping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researchers</a:t>
            </a:r>
            <a:r>
              <a:rPr sz="1400" spc="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manage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papers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AI-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assisted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workflows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effectively.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Alignment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400" b="1" spc="-6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Course</a:t>
            </a:r>
            <a:r>
              <a:rPr sz="1400" b="1" spc="-6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Requirements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53720">
              <a:lnSpc>
                <a:spcPct val="120000"/>
              </a:lnSpc>
              <a:spcBef>
                <a:spcPts val="50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Highlights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tasks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like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reference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organization</a:t>
            </a:r>
            <a:r>
              <a:rPr sz="1400" spc="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project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evaluation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meet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academic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honesty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documentation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standards.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Learning</a:t>
            </a:r>
            <a:r>
              <a:rPr sz="1400" b="1" spc="-4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Outcomes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400" b="1" spc="-5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Ethics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Demonstrates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understanding</a:t>
            </a:r>
            <a:r>
              <a:rPr sz="1400" spc="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of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non-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coding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tasks'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importance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adherence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ethical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standards in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web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projects.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3795" marR="5080" indent="-2411730">
              <a:lnSpc>
                <a:spcPct val="110000"/>
              </a:lnSpc>
              <a:spcBef>
                <a:spcPts val="100"/>
              </a:spcBef>
            </a:pPr>
            <a:r>
              <a:rPr spc="220" dirty="0"/>
              <a:t>OVERVIEW</a:t>
            </a:r>
            <a:r>
              <a:rPr spc="695" dirty="0"/>
              <a:t> </a:t>
            </a:r>
            <a:r>
              <a:rPr spc="120" dirty="0"/>
              <a:t>OF</a:t>
            </a:r>
            <a:r>
              <a:rPr spc="560" dirty="0"/>
              <a:t> </a:t>
            </a:r>
            <a:r>
              <a:rPr spc="170" dirty="0"/>
              <a:t>THE</a:t>
            </a:r>
            <a:r>
              <a:rPr spc="650" dirty="0"/>
              <a:t> </a:t>
            </a:r>
            <a:r>
              <a:rPr spc="220" dirty="0"/>
              <a:t>ISUPERVIZ </a:t>
            </a:r>
            <a:r>
              <a:rPr spc="215" dirty="0"/>
              <a:t>PROJECT</a:t>
            </a:r>
            <a:endParaRPr spc="21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2937" y="991946"/>
            <a:ext cx="798449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System</a:t>
            </a:r>
            <a:r>
              <a:rPr sz="2800" spc="-50" dirty="0"/>
              <a:t> </a:t>
            </a:r>
            <a:r>
              <a:rPr sz="2800" dirty="0"/>
              <a:t>Overview</a:t>
            </a:r>
            <a:r>
              <a:rPr sz="2800" spc="45" dirty="0"/>
              <a:t> </a:t>
            </a:r>
            <a:r>
              <a:rPr sz="2800" dirty="0"/>
              <a:t>and</a:t>
            </a:r>
            <a:r>
              <a:rPr sz="2800" spc="-40" dirty="0"/>
              <a:t> </a:t>
            </a:r>
            <a:r>
              <a:rPr sz="2800" spc="-20" dirty="0"/>
              <a:t>Full-</a:t>
            </a:r>
            <a:r>
              <a:rPr sz="2800" dirty="0"/>
              <a:t>Stack</a:t>
            </a:r>
            <a:r>
              <a:rPr sz="2800" spc="-40" dirty="0"/>
              <a:t> </a:t>
            </a:r>
            <a:r>
              <a:rPr sz="2800" dirty="0"/>
              <a:t>Design</a:t>
            </a:r>
            <a:r>
              <a:rPr sz="2800" spc="-35" dirty="0"/>
              <a:t> </a:t>
            </a:r>
            <a:r>
              <a:rPr sz="2800" spc="-10" dirty="0"/>
              <a:t>Rationale</a:t>
            </a:r>
            <a:endParaRPr sz="2800"/>
          </a:p>
        </p:txBody>
      </p:sp>
      <p:pic>
        <p:nvPicPr>
          <p:cNvPr id="3" name="object 3" descr="4K Resolution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5112" y="2545079"/>
            <a:ext cx="5181600" cy="29138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2464" y="1767001"/>
            <a:ext cx="4914900" cy="43707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Integrated</a:t>
            </a:r>
            <a:r>
              <a:rPr sz="1400" b="1" spc="-6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1400" b="1" spc="-7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Workflow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650875">
              <a:lnSpc>
                <a:spcPct val="120000"/>
              </a:lnSpc>
              <a:spcBef>
                <a:spcPts val="50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iSuperviz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supports</a:t>
            </a:r>
            <a:r>
              <a:rPr sz="1400" spc="-8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discovery,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reading,</a:t>
            </a:r>
            <a:r>
              <a:rPr sz="1400" spc="-8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reflection,</a:t>
            </a:r>
            <a:r>
              <a:rPr sz="1400" spc="-8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idea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generation,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evaluation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within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one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unified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platform.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Frontend</a:t>
            </a:r>
            <a:r>
              <a:rPr sz="1400" b="1" spc="-4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Technologies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frontend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uses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React,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TypeScript,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Ant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Design,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React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Flow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for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modular,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typed,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responsive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design.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Backend</a:t>
            </a:r>
            <a:r>
              <a:rPr sz="14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337185">
              <a:lnSpc>
                <a:spcPct val="120000"/>
              </a:lnSpc>
              <a:spcBef>
                <a:spcPts val="50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Node.js,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Express,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SQLite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form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backend,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providing authentication,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data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persistence,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9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APIs.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400" b="1" spc="-2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Design</a:t>
            </a:r>
            <a:r>
              <a:rPr sz="1400" b="1" spc="-7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Decision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</a:t>
            </a:r>
            <a:r>
              <a:rPr sz="1400" spc="-10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client-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side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mock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API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adapter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replicates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backend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functions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enable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deployment</a:t>
            </a:r>
            <a:r>
              <a:rPr sz="14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on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GitHub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Pages.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5405" marR="5080" indent="-415290">
              <a:lnSpc>
                <a:spcPct val="110000"/>
              </a:lnSpc>
              <a:spcBef>
                <a:spcPts val="100"/>
              </a:spcBef>
            </a:pPr>
            <a:r>
              <a:rPr spc="240" dirty="0"/>
              <a:t>INDIVIDUAL</a:t>
            </a:r>
            <a:r>
              <a:rPr spc="615" dirty="0"/>
              <a:t> </a:t>
            </a:r>
            <a:r>
              <a:rPr spc="190" dirty="0"/>
              <a:t>ROLE</a:t>
            </a:r>
            <a:r>
              <a:rPr spc="505" dirty="0"/>
              <a:t> </a:t>
            </a:r>
            <a:r>
              <a:rPr spc="140" dirty="0"/>
              <a:t>AND </a:t>
            </a:r>
            <a:r>
              <a:rPr spc="245" dirty="0"/>
              <a:t>RESPONSIBILITIES</a:t>
            </a:r>
            <a:endParaRPr spc="2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9159" y="440471"/>
            <a:ext cx="3812540" cy="14833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85"/>
              </a:spcBef>
            </a:pPr>
            <a:r>
              <a:rPr sz="2900" dirty="0"/>
              <a:t>Assigned</a:t>
            </a:r>
            <a:r>
              <a:rPr sz="2900" spc="-45" dirty="0"/>
              <a:t> </a:t>
            </a:r>
            <a:r>
              <a:rPr sz="2900" spc="-10" dirty="0"/>
              <a:t>Contributions </a:t>
            </a:r>
            <a:r>
              <a:rPr sz="2900" dirty="0"/>
              <a:t>and</a:t>
            </a:r>
            <a:r>
              <a:rPr sz="2900" spc="-185" dirty="0"/>
              <a:t> </a:t>
            </a:r>
            <a:r>
              <a:rPr sz="2900" dirty="0"/>
              <a:t>Academic</a:t>
            </a:r>
            <a:r>
              <a:rPr sz="2900" spc="-45" dirty="0"/>
              <a:t> </a:t>
            </a:r>
            <a:r>
              <a:rPr sz="2900" spc="-10" dirty="0"/>
              <a:t>Support </a:t>
            </a:r>
            <a:r>
              <a:rPr sz="2900" spc="-20" dirty="0"/>
              <a:t>Role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6516623" cy="6857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49794" y="2128265"/>
            <a:ext cx="4334510" cy="33312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Citation</a:t>
            </a:r>
            <a:r>
              <a:rPr sz="1200" b="1" spc="-4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200" b="1" spc="-2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Reference</a:t>
            </a:r>
            <a:r>
              <a:rPr sz="1200" b="1" spc="-7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Management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135890">
              <a:lnSpc>
                <a:spcPct val="120000"/>
              </a:lnSpc>
              <a:spcBef>
                <a:spcPts val="510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Organized</a:t>
            </a:r>
            <a:r>
              <a:rPr sz="1200" spc="-1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111215"/>
                </a:solidFill>
                <a:latin typeface="Arial MT"/>
                <a:cs typeface="Arial MT"/>
              </a:rPr>
              <a:t>APA-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style</a:t>
            </a:r>
            <a:r>
              <a:rPr sz="1200" spc="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citations</a:t>
            </a:r>
            <a:r>
              <a:rPr sz="12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ensuring</a:t>
            </a:r>
            <a:r>
              <a:rPr sz="1200" spc="-9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academic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honesty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11215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transparency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in</a:t>
            </a:r>
            <a:r>
              <a:rPr sz="12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documenting</a:t>
            </a:r>
            <a:r>
              <a:rPr sz="12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external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technologies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11215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1200" b="1" spc="-6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Evaluation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Contribution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18415">
              <a:lnSpc>
                <a:spcPct val="120000"/>
              </a:lnSpc>
              <a:spcBef>
                <a:spcPts val="505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Explained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success</a:t>
            </a:r>
            <a:r>
              <a:rPr sz="1200" spc="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criteria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such</a:t>
            </a:r>
            <a:r>
              <a:rPr sz="12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as</a:t>
            </a:r>
            <a:r>
              <a:rPr sz="1200" spc="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functionality,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deployment, responsiveness, accessibility,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documentation</a:t>
            </a:r>
            <a:r>
              <a:rPr sz="1200" spc="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completeness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during</a:t>
            </a:r>
            <a:r>
              <a:rPr sz="12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team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 presentation.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Understanding</a:t>
            </a:r>
            <a:r>
              <a:rPr sz="1200" b="1" spc="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Hallucination</a:t>
            </a:r>
            <a:r>
              <a:rPr sz="1200" b="1" spc="-3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Audit</a:t>
            </a:r>
            <a:r>
              <a:rPr sz="1200" b="1" spc="4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Workflow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Studied</a:t>
            </a:r>
            <a:r>
              <a:rPr sz="1200" spc="-114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AI</a:t>
            </a:r>
            <a:r>
              <a:rPr sz="1200" spc="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review</a:t>
            </a:r>
            <a:r>
              <a:rPr sz="12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processes</a:t>
            </a:r>
            <a:r>
              <a:rPr sz="12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r>
              <a:rPr sz="12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connect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citation</a:t>
            </a:r>
            <a:r>
              <a:rPr sz="12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consistency</a:t>
            </a:r>
            <a:r>
              <a:rPr sz="12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writing</a:t>
            </a:r>
            <a:r>
              <a:rPr sz="12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polish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with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academic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integrity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concerns.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0" marR="5080" indent="-1652270">
              <a:lnSpc>
                <a:spcPct val="110000"/>
              </a:lnSpc>
              <a:spcBef>
                <a:spcPts val="100"/>
              </a:spcBef>
            </a:pPr>
            <a:r>
              <a:rPr spc="195" dirty="0"/>
              <a:t>EVALUATION</a:t>
            </a:r>
            <a:r>
              <a:rPr spc="515" dirty="0"/>
              <a:t> </a:t>
            </a:r>
            <a:r>
              <a:rPr spc="165" dirty="0"/>
              <a:t>AND</a:t>
            </a:r>
            <a:r>
              <a:rPr spc="640" dirty="0"/>
              <a:t> </a:t>
            </a:r>
            <a:r>
              <a:rPr spc="220" dirty="0"/>
              <a:t>CRITERIA </a:t>
            </a:r>
            <a:r>
              <a:rPr spc="120" dirty="0"/>
              <a:t>OF</a:t>
            </a:r>
            <a:r>
              <a:rPr spc="610" dirty="0"/>
              <a:t> </a:t>
            </a:r>
            <a:r>
              <a:rPr spc="210" dirty="0"/>
              <a:t>SUCCESS</a:t>
            </a:r>
            <a:endParaRPr spc="2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2937" y="446718"/>
            <a:ext cx="6334760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900" dirty="0"/>
              <a:t>Defining</a:t>
            </a:r>
            <a:r>
              <a:rPr sz="2900" spc="-50" dirty="0"/>
              <a:t> </a:t>
            </a:r>
            <a:r>
              <a:rPr sz="2900" dirty="0"/>
              <a:t>and</a:t>
            </a:r>
            <a:r>
              <a:rPr sz="2900" spc="-200" dirty="0"/>
              <a:t> </a:t>
            </a:r>
            <a:r>
              <a:rPr sz="2900" dirty="0"/>
              <a:t>Applying Project</a:t>
            </a:r>
            <a:r>
              <a:rPr sz="2900" spc="-75" dirty="0"/>
              <a:t> </a:t>
            </a:r>
            <a:r>
              <a:rPr sz="2900" spc="-10" dirty="0"/>
              <a:t>Success Criteria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93242" y="1642111"/>
            <a:ext cx="6352540" cy="43719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Functional</a:t>
            </a:r>
            <a:r>
              <a:rPr sz="1400" b="1" spc="-5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Success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461645">
              <a:lnSpc>
                <a:spcPct val="120000"/>
              </a:lnSpc>
              <a:spcBef>
                <a:spcPts val="51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Ensures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all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essential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services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like</a:t>
            </a:r>
            <a:r>
              <a:rPr sz="1400" spc="-9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signup,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login,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dashboard,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orders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are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testable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visible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users.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Peculiar-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400" b="1" spc="5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Success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Incorporates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advanced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team-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defined features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such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as</a:t>
            </a:r>
            <a:r>
              <a:rPr sz="1400" spc="-9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AI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Paper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Chat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Idea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Graph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beyond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basic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templates.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400" b="1" spc="-7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Success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0000"/>
              </a:lnSpc>
              <a:spcBef>
                <a:spcPts val="50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Requires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publicly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accessible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URL</a:t>
            </a:r>
            <a:r>
              <a:rPr sz="1400" spc="-9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allow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easy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testing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without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local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installation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or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 setup.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Responsive</a:t>
            </a:r>
            <a:r>
              <a:rPr sz="1400" b="1" spc="-2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400" b="1" spc="-8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Documentation</a:t>
            </a:r>
            <a:r>
              <a:rPr sz="1400" b="1" spc="-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Success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Verifies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interface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usability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across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devices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ensures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complete,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clear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documentation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installation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instructions.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29746" y="0"/>
            <a:ext cx="4462252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 marR="5080" indent="179705">
              <a:lnSpc>
                <a:spcPct val="110000"/>
              </a:lnSpc>
              <a:spcBef>
                <a:spcPts val="100"/>
              </a:spcBef>
            </a:pPr>
            <a:r>
              <a:rPr spc="240" dirty="0"/>
              <a:t>CONNECTING</a:t>
            </a:r>
            <a:r>
              <a:rPr spc="695" dirty="0"/>
              <a:t> </a:t>
            </a:r>
            <a:r>
              <a:rPr spc="220" dirty="0"/>
              <a:t>SLIDES</a:t>
            </a:r>
            <a:r>
              <a:rPr spc="605" dirty="0"/>
              <a:t> </a:t>
            </a:r>
            <a:r>
              <a:rPr spc="75" dirty="0"/>
              <a:t>TO </a:t>
            </a:r>
            <a:r>
              <a:rPr spc="210" dirty="0"/>
              <a:t>SYSTEM</a:t>
            </a:r>
            <a:r>
              <a:rPr spc="720" dirty="0"/>
              <a:t> </a:t>
            </a:r>
            <a:r>
              <a:rPr spc="220" dirty="0"/>
              <a:t>DEMONSTRATION</a:t>
            </a:r>
            <a:endParaRPr spc="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4205" y="446718"/>
            <a:ext cx="4550410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900" dirty="0"/>
              <a:t>Planned</a:t>
            </a:r>
            <a:r>
              <a:rPr sz="2900" spc="-55" dirty="0"/>
              <a:t> </a:t>
            </a:r>
            <a:r>
              <a:rPr sz="2900" dirty="0"/>
              <a:t>Demo</a:t>
            </a:r>
            <a:r>
              <a:rPr sz="2900" spc="-55" dirty="0"/>
              <a:t> </a:t>
            </a:r>
            <a:r>
              <a:rPr sz="2900" dirty="0"/>
              <a:t>Flow</a:t>
            </a:r>
            <a:r>
              <a:rPr sz="2900" spc="-70" dirty="0"/>
              <a:t> </a:t>
            </a:r>
            <a:r>
              <a:rPr sz="2900" dirty="0"/>
              <a:t>and</a:t>
            </a:r>
            <a:r>
              <a:rPr sz="2900" spc="-55" dirty="0"/>
              <a:t> </a:t>
            </a:r>
            <a:r>
              <a:rPr sz="2900" spc="-25" dirty="0"/>
              <a:t>Its </a:t>
            </a:r>
            <a:r>
              <a:rPr sz="2900" dirty="0"/>
              <a:t>Relevance to</a:t>
            </a:r>
            <a:r>
              <a:rPr sz="2900" spc="-55" dirty="0"/>
              <a:t> </a:t>
            </a:r>
            <a:r>
              <a:rPr sz="2900" dirty="0"/>
              <a:t>My</a:t>
            </a:r>
            <a:r>
              <a:rPr sz="2900" spc="-75" dirty="0"/>
              <a:t> </a:t>
            </a:r>
            <a:r>
              <a:rPr sz="2900" spc="-20" dirty="0"/>
              <a:t>Role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340125" cy="6857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4586" y="1642111"/>
            <a:ext cx="6256020" cy="43719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Demo</a:t>
            </a:r>
            <a:r>
              <a:rPr sz="14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Overview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86995">
              <a:lnSpc>
                <a:spcPct val="120000"/>
              </a:lnSpc>
              <a:spcBef>
                <a:spcPts val="51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demo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begins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with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home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page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introducing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project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identity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features,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setting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clear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context.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Dashboard</a:t>
            </a:r>
            <a:r>
              <a:rPr sz="1400" b="1" spc="-2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Core</a:t>
            </a:r>
            <a:r>
              <a:rPr sz="1400" b="1" spc="-6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Features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Post-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login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dashboard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highlights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user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profile,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credit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tracking,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search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history,</a:t>
            </a:r>
            <a:r>
              <a:rPr sz="1400" spc="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cart,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order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management.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1400" b="1" spc="-8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Workflow</a:t>
            </a:r>
            <a:r>
              <a:rPr sz="1400" b="1" spc="-7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Display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39750">
              <a:lnSpc>
                <a:spcPct val="120000"/>
              </a:lnSpc>
              <a:spcBef>
                <a:spcPts val="50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Paper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list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detail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pages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demonstrate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structured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notes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AI-assisted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interactions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for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research.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Hallucination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Audit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Feature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Feature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reviews</a:t>
            </a:r>
            <a:r>
              <a:rPr sz="1400" spc="-9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AI-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generated</a:t>
            </a:r>
            <a:r>
              <a:rPr sz="1400" spc="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content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for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citation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accuracy,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writing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quality,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hallucination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detection.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9955" marR="5080" indent="-1265555">
              <a:lnSpc>
                <a:spcPct val="110000"/>
              </a:lnSpc>
              <a:spcBef>
                <a:spcPts val="100"/>
              </a:spcBef>
            </a:pPr>
            <a:r>
              <a:rPr spc="240" dirty="0"/>
              <a:t>INDIVIDUAL</a:t>
            </a:r>
            <a:r>
              <a:rPr spc="610" dirty="0"/>
              <a:t> </a:t>
            </a:r>
            <a:r>
              <a:rPr spc="220" dirty="0"/>
              <a:t>LEARNING </a:t>
            </a:r>
            <a:r>
              <a:rPr spc="215" dirty="0"/>
              <a:t>OUTCOMES</a:t>
            </a:r>
            <a:endParaRPr spc="21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190" y="4771298"/>
            <a:ext cx="4523105" cy="14833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85"/>
              </a:spcBef>
            </a:pPr>
            <a:r>
              <a:rPr sz="2900" dirty="0">
                <a:solidFill>
                  <a:srgbClr val="435A56"/>
                </a:solidFill>
                <a:latin typeface="Arial MT"/>
                <a:cs typeface="Arial MT"/>
              </a:rPr>
              <a:t>Learning</a:t>
            </a:r>
            <a:r>
              <a:rPr sz="2900" spc="-50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2900" spc="-20" dirty="0">
                <a:solidFill>
                  <a:srgbClr val="435A56"/>
                </a:solidFill>
                <a:latin typeface="Arial MT"/>
                <a:cs typeface="Arial MT"/>
              </a:rPr>
              <a:t>from </a:t>
            </a:r>
            <a:r>
              <a:rPr sz="2900" dirty="0">
                <a:solidFill>
                  <a:srgbClr val="435A56"/>
                </a:solidFill>
                <a:latin typeface="Arial MT"/>
                <a:cs typeface="Arial MT"/>
              </a:rPr>
              <a:t>Documentation,</a:t>
            </a:r>
            <a:r>
              <a:rPr sz="2900" spc="-14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435A56"/>
                </a:solidFill>
                <a:latin typeface="Arial MT"/>
                <a:cs typeface="Arial MT"/>
              </a:rPr>
              <a:t>Evaluation, </a:t>
            </a:r>
            <a:r>
              <a:rPr sz="2900" dirty="0">
                <a:solidFill>
                  <a:srgbClr val="435A56"/>
                </a:solidFill>
                <a:latin typeface="Arial MT"/>
                <a:cs typeface="Arial MT"/>
              </a:rPr>
              <a:t>and</a:t>
            </a:r>
            <a:r>
              <a:rPr sz="2900" spc="-17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435A56"/>
                </a:solidFill>
                <a:latin typeface="Arial MT"/>
                <a:cs typeface="Arial MT"/>
              </a:rPr>
              <a:t>AI</a:t>
            </a:r>
            <a:r>
              <a:rPr sz="2900" spc="-15" dirty="0">
                <a:solidFill>
                  <a:srgbClr val="435A56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435A56"/>
                </a:solidFill>
                <a:latin typeface="Arial MT"/>
                <a:cs typeface="Arial MT"/>
              </a:rPr>
              <a:t>Ethics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7680" y="0"/>
            <a:ext cx="6068568" cy="44500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49794" y="570788"/>
            <a:ext cx="4082415" cy="39903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Citation</a:t>
            </a:r>
            <a:r>
              <a:rPr sz="1400" b="1" spc="-7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Management</a:t>
            </a:r>
            <a:r>
              <a:rPr sz="1400" b="1" spc="-5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Importance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20320">
              <a:lnSpc>
                <a:spcPct val="120000"/>
              </a:lnSpc>
              <a:spcBef>
                <a:spcPts val="51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Proper</a:t>
            </a:r>
            <a:r>
              <a:rPr sz="14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citation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of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frameworks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libraries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supports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academic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honesty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prevents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plagiarism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in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technical</a:t>
            </a:r>
            <a:r>
              <a:rPr sz="14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projects.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Evaluation</a:t>
            </a:r>
            <a:r>
              <a:rPr sz="14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Criteria</a:t>
            </a:r>
            <a:r>
              <a:rPr sz="1400" b="1" spc="-9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2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Usage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220980">
              <a:lnSpc>
                <a:spcPct val="120000"/>
              </a:lnSpc>
              <a:spcBef>
                <a:spcPts val="510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Evaluation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criteria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systematically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 verify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if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projects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meet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functional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non-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functional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requirements effectively.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Deployment</a:t>
            </a:r>
            <a:r>
              <a:rPr sz="1400" b="1" spc="-6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Documentation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20000"/>
              </a:lnSpc>
              <a:spcBef>
                <a:spcPts val="505"/>
              </a:spcBef>
            </a:pP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Clear</a:t>
            </a:r>
            <a:r>
              <a:rPr sz="1400" spc="-10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deployment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evidence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like</a:t>
            </a:r>
            <a:r>
              <a:rPr sz="1400" spc="-10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screenshots,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URLs,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explanations</a:t>
            </a:r>
            <a:r>
              <a:rPr sz="1400" spc="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are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essential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for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validating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project functionality.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9794" y="4787520"/>
            <a:ext cx="4147820" cy="117919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4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Ethics</a:t>
            </a:r>
            <a:r>
              <a:rPr sz="1400" b="1" spc="-5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Awareness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0000"/>
              </a:lnSpc>
              <a:spcBef>
                <a:spcPts val="505"/>
              </a:spcBef>
            </a:pP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Studying</a:t>
            </a:r>
            <a:r>
              <a:rPr sz="14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AI</a:t>
            </a:r>
            <a:r>
              <a:rPr sz="14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content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audits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highlights</a:t>
            </a:r>
            <a:r>
              <a:rPr sz="14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4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need</a:t>
            </a:r>
            <a:r>
              <a:rPr sz="1400" spc="-5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111215"/>
                </a:solidFill>
                <a:latin typeface="Arial MT"/>
                <a:cs typeface="Arial MT"/>
              </a:rPr>
              <a:t>for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assessing</a:t>
            </a:r>
            <a:r>
              <a:rPr sz="14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111215"/>
                </a:solidFill>
                <a:latin typeface="Arial MT"/>
                <a:cs typeface="Arial MT"/>
              </a:rPr>
              <a:t>AI-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generated</a:t>
            </a:r>
            <a:r>
              <a:rPr sz="1400" spc="2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content</a:t>
            </a:r>
            <a:r>
              <a:rPr sz="14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reliability</a:t>
            </a:r>
            <a:r>
              <a:rPr sz="14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4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11215"/>
                </a:solidFill>
                <a:latin typeface="Arial MT"/>
                <a:cs typeface="Arial MT"/>
              </a:rPr>
              <a:t>proper citations.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485"/>
              </a:spcBef>
            </a:pPr>
            <a:r>
              <a:rPr spc="240" dirty="0"/>
              <a:t>SUBMISSION</a:t>
            </a:r>
            <a:r>
              <a:rPr spc="530" dirty="0"/>
              <a:t> </a:t>
            </a:r>
            <a:r>
              <a:rPr spc="140" dirty="0"/>
              <a:t>AND</a:t>
            </a:r>
            <a:endParaRPr spc="140" dirty="0"/>
          </a:p>
          <a:p>
            <a:pPr marL="3175" algn="ctr">
              <a:lnSpc>
                <a:spcPct val="100000"/>
              </a:lnSpc>
              <a:spcBef>
                <a:spcPts val="390"/>
              </a:spcBef>
            </a:pPr>
            <a:r>
              <a:rPr spc="240" dirty="0"/>
              <a:t>ASSESSMENT</a:t>
            </a:r>
            <a:r>
              <a:rPr spc="650" dirty="0"/>
              <a:t> </a:t>
            </a:r>
            <a:r>
              <a:rPr spc="225" dirty="0"/>
              <a:t>READINESS</a:t>
            </a:r>
            <a:endParaRPr spc="2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4205" y="446718"/>
            <a:ext cx="5678805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900" dirty="0"/>
              <a:t>Individual</a:t>
            </a:r>
            <a:r>
              <a:rPr sz="2900" spc="-45" dirty="0"/>
              <a:t> </a:t>
            </a:r>
            <a:r>
              <a:rPr sz="2900" dirty="0"/>
              <a:t>Digital</a:t>
            </a:r>
            <a:r>
              <a:rPr sz="2900" spc="-65" dirty="0"/>
              <a:t> </a:t>
            </a:r>
            <a:r>
              <a:rPr sz="2900" dirty="0"/>
              <a:t>Story</a:t>
            </a:r>
            <a:r>
              <a:rPr sz="2900" spc="-100" dirty="0"/>
              <a:t> </a:t>
            </a:r>
            <a:r>
              <a:rPr sz="2900" spc="-10" dirty="0"/>
              <a:t>Submission Evidence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340125" cy="68579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/>
              <a:t>Video</a:t>
            </a:r>
            <a:r>
              <a:rPr spc="-40" dirty="0"/>
              <a:t> </a:t>
            </a:r>
            <a:r>
              <a:rPr dirty="0"/>
              <a:t>File</a:t>
            </a:r>
            <a:r>
              <a:rPr spc="-20" dirty="0"/>
              <a:t> </a:t>
            </a:r>
            <a:r>
              <a:rPr spc="-10" dirty="0"/>
              <a:t>Requirements</a:t>
            </a:r>
            <a:endParaRPr spc="-10" dirty="0"/>
          </a:p>
          <a:p>
            <a:pPr marL="12700" marR="5080">
              <a:lnSpc>
                <a:spcPct val="120000"/>
              </a:lnSpc>
              <a:spcBef>
                <a:spcPts val="510"/>
              </a:spcBef>
            </a:pPr>
            <a:r>
              <a:rPr b="0" dirty="0">
                <a:latin typeface="Arial MT"/>
                <a:cs typeface="Arial MT"/>
              </a:rPr>
              <a:t>The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digital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story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must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be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MP4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video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between</a:t>
            </a:r>
            <a:r>
              <a:rPr b="0" spc="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10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15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minutes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long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and </a:t>
            </a:r>
            <a:r>
              <a:rPr b="0" dirty="0">
                <a:latin typeface="Arial MT"/>
                <a:cs typeface="Arial MT"/>
              </a:rPr>
              <a:t>under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200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MB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size.</a:t>
            </a:r>
            <a:endParaRPr b="0" spc="-1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File</a:t>
            </a:r>
            <a:r>
              <a:rPr spc="-40" dirty="0"/>
              <a:t> </a:t>
            </a:r>
            <a:r>
              <a:rPr dirty="0"/>
              <a:t>Naming</a:t>
            </a:r>
            <a:r>
              <a:rPr spc="-15" dirty="0"/>
              <a:t> </a:t>
            </a:r>
            <a:r>
              <a:rPr spc="-10" dirty="0"/>
              <a:t>Convention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b="0" dirty="0">
                <a:latin typeface="Arial MT"/>
                <a:cs typeface="Arial MT"/>
              </a:rPr>
              <a:t>Use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course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code,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team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number,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student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ID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file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name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clear</a:t>
            </a:r>
            <a:endParaRPr b="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0" spc="-10" dirty="0">
                <a:latin typeface="Arial MT"/>
                <a:cs typeface="Arial MT"/>
              </a:rPr>
              <a:t>identification.</a:t>
            </a:r>
            <a:endParaRPr b="0" spc="-1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Submission</a:t>
            </a:r>
            <a:r>
              <a:rPr spc="-55" dirty="0"/>
              <a:t> </a:t>
            </a:r>
            <a:r>
              <a:rPr spc="-10" dirty="0"/>
              <a:t>Platforms</a:t>
            </a:r>
            <a:endParaRPr spc="-10" dirty="0"/>
          </a:p>
          <a:p>
            <a:pPr marL="12700" marR="218440">
              <a:lnSpc>
                <a:spcPct val="120000"/>
              </a:lnSpc>
              <a:spcBef>
                <a:spcPts val="505"/>
              </a:spcBef>
            </a:pPr>
            <a:r>
              <a:rPr b="0" dirty="0">
                <a:latin typeface="Arial MT"/>
                <a:cs typeface="Arial MT"/>
              </a:rPr>
              <a:t>Submit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video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via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Moodle and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create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forum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post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viewing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links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on </a:t>
            </a:r>
            <a:r>
              <a:rPr b="0" dirty="0">
                <a:latin typeface="Arial MT"/>
                <a:cs typeface="Arial MT"/>
              </a:rPr>
              <a:t>platforms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like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spc="-30" dirty="0">
                <a:latin typeface="Arial MT"/>
                <a:cs typeface="Arial MT"/>
              </a:rPr>
              <a:t>YouTube </a:t>
            </a:r>
            <a:r>
              <a:rPr b="0" dirty="0">
                <a:latin typeface="Arial MT"/>
                <a:cs typeface="Arial MT"/>
              </a:rPr>
              <a:t>or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OneDrive.</a:t>
            </a:r>
            <a:endParaRPr b="0" spc="-1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Documentation</a:t>
            </a:r>
            <a:r>
              <a:rPr spc="-1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Compliance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b="0" dirty="0">
                <a:latin typeface="Arial MT"/>
                <a:cs typeface="Arial MT"/>
              </a:rPr>
              <a:t>Clearly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document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personal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involvement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evaluation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steps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comply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with</a:t>
            </a:r>
            <a:endParaRPr b="0" spc="-2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0" dirty="0">
                <a:latin typeface="Arial MT"/>
                <a:cs typeface="Arial MT"/>
              </a:rPr>
              <a:t>submission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requirements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avoid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grading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issues.</a:t>
            </a:r>
            <a:endParaRPr b="0" spc="-1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6920" marR="5080" indent="-622300">
              <a:lnSpc>
                <a:spcPct val="110000"/>
              </a:lnSpc>
              <a:spcBef>
                <a:spcPts val="100"/>
              </a:spcBef>
            </a:pPr>
            <a:r>
              <a:rPr spc="235" dirty="0"/>
              <a:t>CONCLUSION</a:t>
            </a:r>
            <a:r>
              <a:rPr spc="555" dirty="0"/>
              <a:t> </a:t>
            </a:r>
            <a:r>
              <a:rPr spc="140" dirty="0"/>
              <a:t>AND </a:t>
            </a:r>
            <a:r>
              <a:rPr spc="229" dirty="0"/>
              <a:t>REFLECTION</a:t>
            </a:r>
            <a:endParaRPr spc="22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49159" y="926795"/>
            <a:ext cx="3934460" cy="99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900" dirty="0"/>
              <a:t>Personal</a:t>
            </a:r>
            <a:r>
              <a:rPr sz="2900" spc="-70" dirty="0"/>
              <a:t> </a:t>
            </a:r>
            <a:r>
              <a:rPr sz="2900" dirty="0"/>
              <a:t>Reflection</a:t>
            </a:r>
            <a:r>
              <a:rPr sz="2900" spc="-75" dirty="0"/>
              <a:t> </a:t>
            </a:r>
            <a:r>
              <a:rPr sz="2900" spc="-25" dirty="0"/>
              <a:t>and </a:t>
            </a:r>
            <a:r>
              <a:rPr sz="2900" dirty="0"/>
              <a:t>Closing</a:t>
            </a:r>
            <a:r>
              <a:rPr sz="2900" spc="-85" dirty="0"/>
              <a:t> </a:t>
            </a:r>
            <a:r>
              <a:rPr sz="2900" spc="-10" dirty="0"/>
              <a:t>Remarks</a:t>
            </a:r>
            <a:endParaRPr sz="29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6516623" cy="6857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49794" y="2128265"/>
            <a:ext cx="4339590" cy="28924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Academic</a:t>
            </a:r>
            <a:r>
              <a:rPr sz="1200" b="1" spc="-7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Integrity</a:t>
            </a:r>
            <a:r>
              <a:rPr sz="1200" b="1" spc="-2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200" b="1" spc="-4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Documentation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5245">
              <a:lnSpc>
                <a:spcPct val="120000"/>
              </a:lnSpc>
              <a:spcBef>
                <a:spcPts val="510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Organized</a:t>
            </a:r>
            <a:r>
              <a:rPr sz="1200" spc="-1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11215"/>
                </a:solidFill>
                <a:latin typeface="Arial MT"/>
                <a:cs typeface="Arial MT"/>
              </a:rPr>
              <a:t>APA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references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improved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 documentation</a:t>
            </a:r>
            <a:r>
              <a:rPr sz="1200" spc="-6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quality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enhance</a:t>
            </a:r>
            <a:r>
              <a:rPr sz="12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project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transparency</a:t>
            </a:r>
            <a:r>
              <a:rPr sz="1200" spc="-8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3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professionalism.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Evaluation</a:t>
            </a:r>
            <a:r>
              <a:rPr sz="12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200" b="1" spc="-3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Ethical</a:t>
            </a:r>
            <a:r>
              <a:rPr sz="1200" b="1" spc="-4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Reflection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Supported</a:t>
            </a:r>
            <a:r>
              <a:rPr sz="1200" spc="-5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evaluation</a:t>
            </a:r>
            <a:r>
              <a:rPr sz="1200" spc="-9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criteria</a:t>
            </a:r>
            <a:r>
              <a:rPr sz="12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reflected</a:t>
            </a:r>
            <a:r>
              <a:rPr sz="12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on</a:t>
            </a:r>
            <a:r>
              <a:rPr sz="1200" spc="-7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AI workflows </a:t>
            </a:r>
            <a:r>
              <a:rPr sz="1200" spc="-25" dirty="0">
                <a:solidFill>
                  <a:srgbClr val="111215"/>
                </a:solidFill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ensure</a:t>
            </a:r>
            <a:r>
              <a:rPr sz="12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responsible</a:t>
            </a:r>
            <a:r>
              <a:rPr sz="1200" spc="-8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ethical</a:t>
            </a:r>
            <a:r>
              <a:rPr sz="12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project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200" b="1" spc="-7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Contribution</a:t>
            </a:r>
            <a:r>
              <a:rPr sz="1200" b="1" spc="-45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200" b="1" spc="-4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b="1" spc="-10" dirty="0">
                <a:solidFill>
                  <a:srgbClr val="111215"/>
                </a:solidFill>
                <a:latin typeface="Arial" panose="020B0604020202020204"/>
                <a:cs typeface="Arial" panose="020B0604020202020204"/>
              </a:rPr>
              <a:t>Learning</a:t>
            </a:r>
            <a:endParaRPr sz="12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0000"/>
              </a:lnSpc>
              <a:spcBef>
                <a:spcPts val="510"/>
              </a:spcBef>
            </a:pP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Recognized</a:t>
            </a:r>
            <a:r>
              <a:rPr sz="1200" spc="-7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importance</a:t>
            </a:r>
            <a:r>
              <a:rPr sz="1200" spc="-4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of</a:t>
            </a:r>
            <a:r>
              <a:rPr sz="1200" spc="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non-coding</a:t>
            </a:r>
            <a:r>
              <a:rPr sz="1200" spc="-6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roles</a:t>
            </a:r>
            <a:r>
              <a:rPr sz="12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in</a:t>
            </a:r>
            <a:r>
              <a:rPr sz="1200" spc="-4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team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 success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impact</a:t>
            </a:r>
            <a:r>
              <a:rPr sz="1200" spc="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of clear</a:t>
            </a:r>
            <a:r>
              <a:rPr sz="1200" spc="-3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communication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11215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11121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215"/>
                </a:solidFill>
                <a:latin typeface="Arial MT"/>
                <a:cs typeface="Arial MT"/>
              </a:rPr>
              <a:t>responsibility.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4882</Words>
  <Application>WPS 演示</Application>
  <PresentationFormat>On-screen Show (4:3)</PresentationFormat>
  <Paragraphs>144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 MT</vt:lpstr>
      <vt:lpstr>Arial</vt:lpstr>
      <vt:lpstr>微软雅黑</vt:lpstr>
      <vt:lpstr>Arial Unicode MS</vt:lpstr>
      <vt:lpstr>Calibri</vt:lpstr>
      <vt:lpstr>Arial MT</vt:lpstr>
      <vt:lpstr>Office Theme</vt:lpstr>
      <vt:lpstr>Individual Digital Story: Personal Contribution to iSuperviz</vt:lpstr>
      <vt:lpstr>INTRODUCTION AND PROJECT CONTEXT</vt:lpstr>
      <vt:lpstr>Personal Introduction and Purpose of the Digital Story</vt:lpstr>
      <vt:lpstr>OVERVIEW OF THE ISUPERVIZ PROJECT</vt:lpstr>
      <vt:lpstr>System Overview and Full-Stack Design Rationale</vt:lpstr>
      <vt:lpstr>INDIVIDUAL ROLE AND RESPONSIBILITIES</vt:lpstr>
      <vt:lpstr>Assigned Contributions and Academic Support Role</vt:lpstr>
      <vt:lpstr>EVALUATION AND CRITERIA OF SUCCESS</vt:lpstr>
      <vt:lpstr>Defining and Applying Project Success Criteria</vt:lpstr>
      <vt:lpstr>CONNECTING SLIDES TO SYSTEM DEMONSTRATION</vt:lpstr>
      <vt:lpstr>Planned Demo Flow and Its Relevance to My Role</vt:lpstr>
      <vt:lpstr>INDIVIDUAL LEARNING OUTCOMES</vt:lpstr>
      <vt:lpstr>PowerPoint 演示文稿</vt:lpstr>
      <vt:lpstr>ASSESSMENT READINESS</vt:lpstr>
      <vt:lpstr>Individual Digital Story Submission Evidence</vt:lpstr>
      <vt:lpstr>CONCLUSION AND REFLECTION</vt:lpstr>
      <vt:lpstr>Personal Reflection and Closing Remarks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Digital Story: Personal Contribution to iSuperviz</dc:title>
  <dc:creator/>
  <cp:lastModifiedBy>-</cp:lastModifiedBy>
  <cp:revision>1</cp:revision>
  <dcterms:created xsi:type="dcterms:W3CDTF">2026-05-10T13:32:48Z</dcterms:created>
  <dcterms:modified xsi:type="dcterms:W3CDTF">2026-05-10T13:32:48Z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2026-05-10T08:00:00Z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2026-05-10T08:00:00Z</vt:filetime>
  </property>
  <property fmtid="{D5CDD505-2E9C-101B-9397-08002B2CF9AE}" pid="6" name="Producer">
    <vt:lpwstr>www.ilovepdf.com</vt:lpwstr>
  </property>
  <property fmtid="{D5CDD505-2E9C-101B-9397-08002B2CF9AE}" pid="7" name="ICV">
    <vt:lpwstr>A7EBA3B5E72C495CAF91B6E2D2C58045_13</vt:lpwstr>
  </property>
  <property fmtid="{D5CDD505-2E9C-101B-9397-08002B2CF9AE}" pid="8" name="KSOProductBuildVer">
    <vt:lpwstr>2052-12.1.0.25865</vt:lpwstr>
  </property>
</Properties>
</file>